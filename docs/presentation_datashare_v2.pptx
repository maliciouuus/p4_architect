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FFB88C"/>
              </a:gs>
              <a:gs pos="100000">
                <a:srgbClr val="DE626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1A1A1A"/>
                </a:solidFill>
              </a:rPr>
              <a:t>DataShare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2606040"/>
            <a:ext cx="484632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1A1A1A"/>
                </a:solidFill>
              </a:rPr>
              <a:t>Plateforme de transfert de fichiers sécurisé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A1A1A"/>
                </a:solidFill>
              </a:rPr>
              <a:t>Prototype MVP — Mai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4480560"/>
            <a:ext cx="2286000" cy="10058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45262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NestJS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5074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B88C"/>
                </a:solidFill>
              </a:rPr>
              <a:t>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4480560"/>
            <a:ext cx="2286000" cy="10058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45262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32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5074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B88C"/>
                </a:solidFill>
              </a:rPr>
              <a:t>Tests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4480560"/>
            <a:ext cx="2286000" cy="10058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45262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78 %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5074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B88C"/>
                </a:solidFill>
              </a:rPr>
              <a:t>Couverture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© DataShare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FFB88C"/>
              </a:gs>
              <a:gs pos="100000">
                <a:srgbClr val="DE626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11430000" cy="6537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</a:rPr>
              <a:t>Contexte &amp; Problème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645920" cy="50292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</a:rPr>
              <a:t>Pourquoi DataShare ? Quel besoin concret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12D"/>
                </a:solidFill>
              </a:rPr>
              <a:t>Le problème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64208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Freelances et PME ont besoin de partager des fichiers volumineux facilement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WeTransfer → dépendance externe, publicité, limite gratuite faible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Dropbox → compte obligatoire, coût abonnement, données hébergées à l'étranger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Google Drive → interface lourde pour un simple partage ponctuel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FTP / serveur partagé → configuration complexe, non accessible à tous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2344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812D"/>
                </a:solidFill>
              </a:rPr>
              <a:t>DataShare — La réponse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64208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Solution souveraine : données hébergées chez vous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Auto-hébergeable en 1 commande Docker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Sécurisée : JWT, bcrypt, UUID v4 non prédictibles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Simple : partage en 3 clics, lien prêt en secondes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Expiration automatique jusqu'à 7 jours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Protection par mot de passe optionnelle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31920"/>
            <a:ext cx="11064240" cy="45720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041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Cible principale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480560"/>
            <a:ext cx="2651760" cy="1188720"/>
          </a:xfrm>
          <a:prstGeom prst="rect">
            <a:avLst/>
          </a:prstGeom>
          <a:solidFill>
            <a:srgbClr val="FFF3EB"/>
          </a:solidFill>
          <a:ln w="10160">
            <a:solidFill>
              <a:srgbClr val="FF8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5537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12D"/>
                </a:solidFill>
              </a:rPr>
              <a:t>Freelances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892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Partage client rapide sans compte tiers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4480560"/>
            <a:ext cx="2651760" cy="1188720"/>
          </a:xfrm>
          <a:prstGeom prst="rect">
            <a:avLst/>
          </a:prstGeom>
          <a:solidFill>
            <a:srgbClr val="FFF3EB"/>
          </a:solidFill>
          <a:ln w="10160">
            <a:solidFill>
              <a:srgbClr val="FF8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45537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12D"/>
                </a:solidFill>
              </a:rPr>
              <a:t>PME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4892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Souveraineté des données, conformité RGPD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480560"/>
            <a:ext cx="2651760" cy="1188720"/>
          </a:xfrm>
          <a:prstGeom prst="rect">
            <a:avLst/>
          </a:prstGeom>
          <a:solidFill>
            <a:srgbClr val="FFF3EB"/>
          </a:solidFill>
          <a:ln w="10160">
            <a:solidFill>
              <a:srgbClr val="FF8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5537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12D"/>
                </a:solidFill>
              </a:rPr>
              <a:t>Équipes tech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892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Auto-hébergement, Docker, open source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4480560"/>
            <a:ext cx="2651760" cy="1188720"/>
          </a:xfrm>
          <a:prstGeom prst="rect">
            <a:avLst/>
          </a:prstGeom>
          <a:solidFill>
            <a:srgbClr val="FFF3EB"/>
          </a:solidFill>
          <a:ln w="10160">
            <a:solidFill>
              <a:srgbClr val="FF8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89720" y="455371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812D"/>
                </a:solidFill>
              </a:rPr>
              <a:t>Agences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48920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Livraison de fichiers volumineux aux clients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© DataShare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FFB88C"/>
              </a:gs>
              <a:gs pos="100000">
                <a:srgbClr val="DE626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11430000" cy="6537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</a:rPr>
              <a:t>Architecture technique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645920" cy="50292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</a:rPr>
              <a:t>3-tier découplé · Docker Compose · Vue.js 3 + NestJS + PostgreSQL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2926080" cy="2011680"/>
          </a:xfrm>
          <a:prstGeom prst="rect">
            <a:avLst/>
          </a:prstGeom>
          <a:solidFill>
            <a:srgbClr val="DBEA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325880"/>
            <a:ext cx="292608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807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01368"/>
            <a:ext cx="26517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Vue.js 3 SPA
Vue Router
Pinia (state)
Axios (HTTP)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325880"/>
            <a:ext cx="4023360" cy="2011680"/>
          </a:xfrm>
          <a:prstGeom prst="rect">
            <a:avLst/>
          </a:prstGeom>
          <a:solidFill>
            <a:srgbClr val="FFF3EB"/>
          </a:solidFill>
          <a:ln w="19050">
            <a:solidFill>
              <a:srgbClr val="FF8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1325880"/>
            <a:ext cx="4023360" cy="384048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1380744"/>
            <a:ext cx="3749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Backend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1801368"/>
            <a:ext cx="37490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NestJS (TypeScript)
/auth  /files
JWT · CORS · Guards
class-validator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49640" y="1325880"/>
            <a:ext cx="3017520" cy="2011680"/>
          </a:xfrm>
          <a:prstGeom prst="rect">
            <a:avLst/>
          </a:prstGeom>
          <a:solidFill>
            <a:srgbClr val="D4EDDA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549640" y="1325880"/>
            <a:ext cx="3017520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138074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Persistance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1801368"/>
            <a:ext cx="2743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PostgreSQL 16
TypeORM
Local Filesystem
Volumes Docker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47872" y="1874519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HTTP/JSON
JWT Bearer 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5008" y="1874519"/>
            <a:ext cx="548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TypeORM
SQL 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3429000"/>
            <a:ext cx="11247120" cy="5486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5478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</a:rPr>
              <a:t>Docker Compose — réseau interne · volumes persistants postgres_data &amp; uploads_data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97763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Flux d'un upload — de l'interface au disque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434840"/>
            <a:ext cx="1783080" cy="1645920"/>
          </a:xfrm>
          <a:prstGeom prst="rect">
            <a:avLst/>
          </a:prstGeom>
          <a:solidFill>
            <a:srgbClr val="F5F5F5"/>
          </a:solidFill>
          <a:ln w="15240">
            <a:solidFill>
              <a:srgbClr val="FF8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49884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12D"/>
                </a:solidFill>
              </a:rPr>
              <a:t>1. Clic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828032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Utilisateur
sélectionne
le fichier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0292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57575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4434840"/>
            <a:ext cx="1783080" cy="1645920"/>
          </a:xfrm>
          <a:prstGeom prst="rect">
            <a:avLst/>
          </a:prstGeom>
          <a:solidFill>
            <a:srgbClr val="F5F5F5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0" y="449884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2. Axios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60320" y="4828032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POST /api/files
/upload
(multipart)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50292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57575"/>
                </a:solidFill>
              </a:rPr>
              <a:t>→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4434840"/>
            <a:ext cx="1783080" cy="1645920"/>
          </a:xfrm>
          <a:prstGeom prst="rect">
            <a:avLst/>
          </a:prstGeom>
          <a:solidFill>
            <a:srgbClr val="F5F5F5"/>
          </a:solidFill>
          <a:ln w="15240">
            <a:solidFill>
              <a:srgbClr val="FF8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59" y="449884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12D"/>
                </a:solidFill>
              </a:rPr>
              <a:t>3. Guard JWT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59" y="4828032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JwtAuthGuard
valide le
Bearer token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79" y="50292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57575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4434840"/>
            <a:ext cx="1783080" cy="1645920"/>
          </a:xfrm>
          <a:prstGeom prst="rect">
            <a:avLst/>
          </a:prstGeom>
          <a:solidFill>
            <a:srgbClr val="F5F5F5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49884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4. Service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828032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Valide extension
et taille, génère
UUID shareToken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50292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57575"/>
                </a:solidFill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4434840"/>
            <a:ext cx="1783080" cy="1645920"/>
          </a:xfrm>
          <a:prstGeom prst="rect">
            <a:avLst/>
          </a:prstGeom>
          <a:solidFill>
            <a:srgbClr val="F5F5F5"/>
          </a:solidFill>
          <a:ln w="15240">
            <a:solidFill>
              <a:srgbClr val="FF8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21040" y="449884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12D"/>
                </a:solidFill>
              </a:rPr>
              <a:t>5. Disque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828032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Fichier stocké
uploads/&lt;id&gt;/
&lt;uuid&gt;_nom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66960" y="50292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57575"/>
                </a:solidFill>
              </a:rPr>
              <a:t>→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149840" y="4434840"/>
            <a:ext cx="1783080" cy="1645920"/>
          </a:xfrm>
          <a:prstGeom prst="rect">
            <a:avLst/>
          </a:prstGeom>
          <a:solidFill>
            <a:srgbClr val="F5F5F5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41280" y="4498848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6. BDD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4828032"/>
            <a:ext cx="1600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SharedFile créé
en PostgreSQL
(TypeORM)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© DataShare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FFB88C"/>
              </a:gs>
              <a:gs pos="100000">
                <a:srgbClr val="DE626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11430000" cy="6537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</a:rPr>
              <a:t>Stack technologique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645920" cy="50292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</a:rPr>
              <a:t>Choix modernes, maintenables et éprouvés en production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2121408" cy="384048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280160"/>
            <a:ext cx="201167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Composant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234440"/>
            <a:ext cx="3127248" cy="384048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7208" y="128016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Technologie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97880" y="1234440"/>
            <a:ext cx="5504688" cy="384048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07608" y="1280160"/>
            <a:ext cx="53949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Justification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664208"/>
            <a:ext cx="2121408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97480" y="1664208"/>
            <a:ext cx="3127248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97880" y="1664208"/>
            <a:ext cx="5504688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1755648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07208" y="175564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12D"/>
                </a:solidFill>
              </a:rPr>
              <a:t>Vue.js 3 + Pinia + Vite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07608" y="1755648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Composition API, bundle ~67 Ko gzip, HMR instantané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231136"/>
            <a:ext cx="212140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97480" y="2231136"/>
            <a:ext cx="312724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97880" y="2231136"/>
            <a:ext cx="550468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2322576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Backend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7208" y="232257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12D"/>
                </a:solidFill>
              </a:rPr>
              <a:t>NestJS (TypeScript)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07608" y="2322576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Architecture modulaire, DI native, décorateurs, Guard/Strategy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798064"/>
            <a:ext cx="2121408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97480" y="2798064"/>
            <a:ext cx="3127248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897880" y="2798064"/>
            <a:ext cx="5504688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2889504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Base de données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07208" y="288950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12D"/>
                </a:solidFill>
              </a:rPr>
              <a:t>PostgreSQL 16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07608" y="2889504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UUID natif, ACID, index sur owner_id, standard professionnel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3364991"/>
            <a:ext cx="212140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97480" y="3364991"/>
            <a:ext cx="312724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897880" y="3364991"/>
            <a:ext cx="550468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" y="3456432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Auth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07208" y="3456432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12D"/>
                </a:solidFill>
              </a:rPr>
              <a:t>JWT + bcrypt coût 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07608" y="3456432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Stateless, Guard NestJS, hash résistant brute-force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931920"/>
            <a:ext cx="2121408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97480" y="3931920"/>
            <a:ext cx="3127248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897880" y="3931920"/>
            <a:ext cx="5504688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2648" y="4023359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Stockage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07208" y="4023359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12D"/>
                </a:solidFill>
              </a:rPr>
              <a:t>Système de fichiers local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07608" y="4023359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Suffisant MVP, chemin non devinable, migration S3 documentée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498848"/>
            <a:ext cx="212140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2697480" y="4498848"/>
            <a:ext cx="312724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897880" y="4498848"/>
            <a:ext cx="5504688" cy="530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648" y="4590288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Tests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807208" y="4590288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12D"/>
                </a:solidFill>
              </a:rPr>
              <a:t>Jest 32 tests · Playwright E2E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07608" y="4590288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78% couverture globale · 11 scénarios E2E passants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065776"/>
            <a:ext cx="2121408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697480" y="5065776"/>
            <a:ext cx="3127248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897880" y="5065776"/>
            <a:ext cx="5504688" cy="53035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2648" y="5157216"/>
            <a:ext cx="20116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Déploiement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807208" y="515721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812D"/>
                </a:solidFill>
              </a:rPr>
              <a:t>Docker + Docker Compose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07608" y="5157216"/>
            <a:ext cx="53949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Reproductibilité totale, 3 services, 1 commande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© DataShare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FFB88C"/>
              </a:gs>
              <a:gs pos="100000">
                <a:srgbClr val="DE626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11430000" cy="6537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</a:rPr>
              <a:t>Fonctionnalités MVP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645920" cy="50292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</a:rPr>
              <a:t>8 User Stories livrées dont 2 bonus — toutes validées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User Stories de base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609344"/>
            <a:ext cx="5394960" cy="548640"/>
          </a:xfrm>
          <a:prstGeom prst="rect">
            <a:avLst/>
          </a:prstGeom>
          <a:solidFill>
            <a:srgbClr val="D4EDDA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6642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5A24"/>
                </a:solidFill>
              </a:rPr>
              <a:t>✅ US01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4592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Upload connecté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83664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</a:rPr>
              <a:t>Fichier jusqu'à 1 Go, MDP optionnel, expiration 1-7j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231136"/>
            <a:ext cx="5394960" cy="548640"/>
          </a:xfrm>
          <a:prstGeom prst="rect">
            <a:avLst/>
          </a:prstGeom>
          <a:solidFill>
            <a:srgbClr val="D4EDDA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5A24"/>
                </a:solidFill>
              </a:rPr>
              <a:t>✅ US02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267712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Téléchargement via lien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505456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</a:rPr>
              <a:t>UUID v4 non prédictible · 410 Gone si expiré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852928"/>
            <a:ext cx="5394960" cy="548640"/>
          </a:xfrm>
          <a:prstGeom prst="rect">
            <a:avLst/>
          </a:prstGeom>
          <a:solidFill>
            <a:srgbClr val="D4EDDA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9077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5A24"/>
                </a:solidFill>
              </a:rPr>
              <a:t>✅ US03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2889504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Création de compte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127248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</a:rPr>
              <a:t>Email unique · bcrypt coût 12 · validation class-validator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474720"/>
            <a:ext cx="5394960" cy="548640"/>
          </a:xfrm>
          <a:prstGeom prst="rect">
            <a:avLst/>
          </a:prstGeom>
          <a:solidFill>
            <a:srgbClr val="D4EDDA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352958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5A24"/>
                </a:solidFill>
              </a:rPr>
              <a:t>✅ US04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35112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Connexion JWT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749039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</a:rPr>
              <a:t>Access token 7j · stateless · Guard NestJS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096512"/>
            <a:ext cx="5394960" cy="548640"/>
          </a:xfrm>
          <a:prstGeom prst="rect">
            <a:avLst/>
          </a:prstGeom>
          <a:solidFill>
            <a:srgbClr val="D4EDDA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15137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5A24"/>
                </a:solidFill>
              </a:rPr>
              <a:t>✅ US05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20" y="4133088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Historique des fichiers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4370832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</a:rPr>
              <a:t>Nom, taille, date, statut · isolation utilisateur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" y="4718304"/>
            <a:ext cx="5394960" cy="548640"/>
          </a:xfrm>
          <a:prstGeom prst="rect">
            <a:avLst/>
          </a:prstGeom>
          <a:solidFill>
            <a:srgbClr val="D4EDDA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477316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5A24"/>
                </a:solidFill>
              </a:rPr>
              <a:t>✅ US06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475488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Suppression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45920" y="4992624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</a:rPr>
              <a:t>Suppression physique + BDD · 404 si fichier d'autrui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1188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</a:rPr>
              <a:t>User Stories bonus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609344"/>
            <a:ext cx="5394960" cy="548640"/>
          </a:xfrm>
          <a:prstGeom prst="rect">
            <a:avLst/>
          </a:prstGeom>
          <a:solidFill>
            <a:srgbClr val="FFF3EB"/>
          </a:solidFill>
          <a:ln w="10160">
            <a:solidFill>
              <a:srgbClr val="FF8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6792" y="16642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12D"/>
                </a:solidFill>
              </a:rPr>
              <a:t>✅ US07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164592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Upload anonyme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69480" y="1883664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</a:rPr>
              <a:t>Partage sans compte · UUID v4 · expiration auto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231136"/>
            <a:ext cx="5394960" cy="548640"/>
          </a:xfrm>
          <a:prstGeom prst="rect">
            <a:avLst/>
          </a:prstGeom>
          <a:solidFill>
            <a:srgbClr val="FFF3EB"/>
          </a:solidFill>
          <a:ln w="10160">
            <a:solidFill>
              <a:srgbClr val="FF8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36792" y="2286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12D"/>
                </a:solidFill>
              </a:rPr>
              <a:t>✅ US09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69480" y="226771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Protection par mot de passe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80" y="2505456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</a:rPr>
              <a:t>bcrypt coût 12 · vérification côté serveur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2852928"/>
            <a:ext cx="5394960" cy="548640"/>
          </a:xfrm>
          <a:prstGeom prst="rect">
            <a:avLst/>
          </a:prstGeom>
          <a:solidFill>
            <a:srgbClr val="FFF3EB"/>
          </a:solidFill>
          <a:ln w="10160">
            <a:solidFill>
              <a:srgbClr val="FF8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36792" y="290779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12D"/>
                </a:solidFill>
              </a:rPr>
              <a:t>✅ US10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69480" y="288950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1A1A"/>
                </a:solidFill>
              </a:rPr>
              <a:t>Expiration automatique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3127248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</a:rPr>
              <a:t>Cron 24h · purge fichier physique + BDD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897880"/>
            <a:ext cx="11064240" cy="594360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5971032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9 User Stories livrées · Toutes les US de base + 3 bonus · MVP 100% fonctionnel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© DataShare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FFB88C"/>
              </a:gs>
              <a:gs pos="100000">
                <a:srgbClr val="DE626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11430000" cy="6537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</a:rPr>
              <a:t>Sécurité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645920" cy="50292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</a:rPr>
              <a:t>Défense en profondeur — chaque couche protégée indépendamment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5394960" cy="2423160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5394960" cy="384048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8930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Authentification JWT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09928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• JWT stateless — 7 jours, HS256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• Guard NestJS sur toutes les routes protégées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• Header Authorization: Bearer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• Aucune session serveur à gérer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5394960" cy="2423160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34440"/>
            <a:ext cx="5394960" cy="384048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28930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Hashage &amp; mots de passe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09928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• bcrypt coût 12 — résistant brute-force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• MDP utilisateur et fichier jamais en clair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• Jamais loggé ni exposé en API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• Validation class-validator côté serveur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840480"/>
            <a:ext cx="5394960" cy="2423160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840480"/>
            <a:ext cx="5394960" cy="384048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8953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Accès &amp; isolation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15968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• UUID v4 tokens — 128 bits non prédictibles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• Isolation utilisateur garantie (owner FK)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• Extensions interdites : .exe, .bat, .sh...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• CORS strict — origines explicites uniquement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840480"/>
            <a:ext cx="5394960" cy="2423160"/>
          </a:xfrm>
          <a:prstGeom prst="rect">
            <a:avLst/>
          </a:prstGeom>
          <a:solidFill>
            <a:srgbClr val="F5F5F5"/>
          </a:solidFill>
          <a:ln w="1016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840480"/>
            <a:ext cx="5394960" cy="384048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89534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Infrastructure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315968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• Validation taille fichier côté serveur (1 Go)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• class-validator sur tous les DTOs NestJS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• Docker Compose — réseau interne isolé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• Variables sensibles en .env (hors dépôt)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57575"/>
                </a:solidFill>
              </a:rPr>
              <a:t>MVP conscient : localStorage (XSS) → prod : cookies httpOnly · Pas de rate limiting → prod : middleware Express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FFB88C"/>
              </a:gs>
              <a:gs pos="100000">
                <a:srgbClr val="DE626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11430000" cy="6537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</a:rPr>
              <a:t>Tests unitaires — Jest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645920" cy="50292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</a:rPr>
              <a:t>32 tests · 7 suites · 78% couverture globale · 0 régression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234440"/>
            <a:ext cx="2377440" cy="1188720"/>
          </a:xfrm>
          <a:prstGeom prst="rect">
            <a:avLst/>
          </a:prstGeom>
          <a:solidFill>
            <a:srgbClr val="FFF3EB"/>
          </a:solidFill>
          <a:ln w="12700">
            <a:solidFill>
              <a:srgbClr val="FF8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258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812D"/>
                </a:solidFill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tests
unitaires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234440"/>
            <a:ext cx="2377440" cy="1188720"/>
          </a:xfrm>
          <a:prstGeom prst="rect">
            <a:avLst/>
          </a:prstGeom>
          <a:solidFill>
            <a:srgbClr val="FFF3EB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3258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A34A"/>
                </a:solidFill>
              </a:rPr>
              <a:t>78 %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couverture
globale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234440"/>
            <a:ext cx="2377440" cy="1188720"/>
          </a:xfrm>
          <a:prstGeom prst="rect">
            <a:avLst/>
          </a:prstGeom>
          <a:solidFill>
            <a:srgbClr val="FFF3E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3258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563EB"/>
                </a:solidFill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suites
de tests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1234440"/>
            <a:ext cx="2377440" cy="1188720"/>
          </a:xfrm>
          <a:prstGeom prst="rect">
            <a:avLst/>
          </a:prstGeom>
          <a:solidFill>
            <a:srgbClr val="FFF3EB"/>
          </a:solidFill>
          <a:ln w="127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3258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6A34A"/>
                </a:solidFill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9202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vulnérabilités
npm audit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606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Fichiers testés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063240"/>
            <a:ext cx="5577840" cy="777240"/>
          </a:xfrm>
          <a:prstGeom prst="rect">
            <a:avLst/>
          </a:prstGeom>
          <a:solidFill>
            <a:srgbClr val="F5F5F5"/>
          </a:solidFill>
          <a:ln w="10160">
            <a:solidFill>
              <a:srgbClr val="FF8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108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12D"/>
                </a:solidFill>
              </a:rPr>
              <a:t>✅ auth.service.spec.ts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60520" y="3108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757575"/>
                </a:solidFill>
              </a:rPr>
              <a:t>7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4107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register(), login() — bcrypt, JWT, email dupliqué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063240"/>
            <a:ext cx="5577840" cy="777240"/>
          </a:xfrm>
          <a:prstGeom prst="rect">
            <a:avLst/>
          </a:prstGeom>
          <a:solidFill>
            <a:srgbClr val="F5F5F5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1089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✅ files.service.spec.ts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3108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757575"/>
                </a:solidFill>
              </a:rPr>
              <a:t>11 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4107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upload, download, delete, expiration, isolation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977639"/>
            <a:ext cx="5577840" cy="777240"/>
          </a:xfrm>
          <a:prstGeom prst="rect">
            <a:avLst/>
          </a:prstGeom>
          <a:solidFill>
            <a:srgbClr val="F5F5F5"/>
          </a:solidFill>
          <a:ln w="10160">
            <a:solidFill>
              <a:srgbClr val="FF8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02335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812D"/>
                </a:solidFill>
              </a:rPr>
              <a:t>✅ auth.controller.spec.ts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402335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757575"/>
                </a:solidFill>
              </a:rPr>
              <a:t>3 tests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3251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register/login/me — délégation au service vérifiée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977639"/>
            <a:ext cx="5577840" cy="777240"/>
          </a:xfrm>
          <a:prstGeom prst="rect">
            <a:avLst/>
          </a:prstGeom>
          <a:solidFill>
            <a:srgbClr val="F5F5F5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402335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563EB"/>
                </a:solidFill>
              </a:rPr>
              <a:t>✅ files.controller.spec.ts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402335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757575"/>
                </a:solidFill>
              </a:rPr>
              <a:t>6 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3251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list, upload, uploadAnonymous, delete, share, download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892040"/>
            <a:ext cx="5577840" cy="777240"/>
          </a:xfrm>
          <a:prstGeom prst="rect">
            <a:avLst/>
          </a:prstGeom>
          <a:solidFill>
            <a:srgbClr val="F5F5F5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493775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✅ jwt.strategy.spec.ts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493775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757575"/>
                </a:solidFill>
              </a:rPr>
              <a:t>2 tests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52395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validate() — payload JWT → { id, email }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4892040"/>
            <a:ext cx="5577840" cy="777240"/>
          </a:xfrm>
          <a:prstGeom prst="rect">
            <a:avLst/>
          </a:prstGeom>
          <a:solidFill>
            <a:srgbClr val="F5F5F5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937759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A34A"/>
                </a:solidFill>
              </a:rPr>
              <a:t>✅ files.cron.spec.ts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21240" y="4937759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757575"/>
                </a:solidFill>
              </a:rPr>
              <a:t>3 tests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239512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purge 60s, log count, résistance aux erreurs DB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870448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812D"/>
                </a:solidFill>
              </a:rPr>
              <a:t>Stratégie : mocks TypeORM + bcrypt + fs — aucun accès BDD réelle — tests reproductibles en &lt; 7s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© DataShare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FFB88C"/>
              </a:gs>
              <a:gs pos="100000">
                <a:srgbClr val="DE626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11430000" cy="6537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</a:rPr>
              <a:t>Tests End-to-End — Playwright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645920" cy="50292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</a:rPr>
              <a:t>11 scénarios · navigateur réel · parcours utilisateur complets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1106424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C'est quoi un test E2E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276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Un test E2E (End-to-End) simule un vrai utilisateur dans un vrai navigateur. Contrairement aux tests unitaires qui testent une fonction isolée, le test E2E fait tourner l'application complète (frontend + backend + BDD) et vérifie que tous les composants fonctionnent ensemble.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591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Unitaire vs E2E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697480"/>
            <a:ext cx="5212080" cy="1417320"/>
          </a:xfrm>
          <a:prstGeom prst="rect">
            <a:avLst/>
          </a:prstGeom>
          <a:solidFill>
            <a:srgbClr val="F5F5F5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43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563EB"/>
                </a:solidFill>
              </a:rPr>
              <a:t>🔬 Test unitaire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035808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00">
                <a:solidFill>
                  <a:srgbClr val="1A1A1A"/>
                </a:solidFill>
              </a:rPr>
              <a:t>• Teste une seule fonction en isolation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A1A1A"/>
                </a:solidFill>
              </a:rPr>
              <a:t>• Dépendances remplacées par des mocks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A1A1A"/>
                </a:solidFill>
              </a:rPr>
              <a:t>• Rapide (&lt; 1s), pas de serveur lancé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A1A1A"/>
                </a:solidFill>
              </a:rPr>
              <a:t>• Exemple : register() lève 409 si email dupliqué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697480"/>
            <a:ext cx="5212080" cy="1417320"/>
          </a:xfrm>
          <a:prstGeom prst="rect">
            <a:avLst/>
          </a:prstGeom>
          <a:solidFill>
            <a:srgbClr val="F5F5F5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743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A34A"/>
                </a:solidFill>
              </a:rPr>
              <a:t>🌐 Test E2E (Playwright)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3035808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900">
                <a:solidFill>
                  <a:srgbClr val="1A1A1A"/>
                </a:solidFill>
              </a:rPr>
              <a:t>• Simule l'utilisateur dans Chromium headless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A1A1A"/>
                </a:solidFill>
              </a:rPr>
              <a:t>• Application complète lancée (Docker)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A1A1A"/>
                </a:solidFill>
              </a:rPr>
              <a:t>• Plus lent (30-60s), mais 100% réaliste</a:t>
            </a:r>
          </a:p>
          <a:p>
            <a:pPr>
              <a:spcBef>
                <a:spcPts val="300"/>
              </a:spcBef>
            </a:pPr>
            <a:r>
              <a:rPr sz="900">
                <a:solidFill>
                  <a:srgbClr val="1A1A1A"/>
                </a:solidFill>
              </a:rPr>
              <a:t>• Exemple : cliquer 'Créer mon compte', vérifier /dashboard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2245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11 scénarios implémentés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72000"/>
            <a:ext cx="5577840" cy="292608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608576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test_auth.py — 6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892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</a:rPr>
              <a:t>✅ Page d'accueil affiche la tagline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</a:rPr>
              <a:t>✅ Inscription → redirection /dashboard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</a:rPr>
              <a:t>✅ Déconnexion → retour /login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</a:rPr>
              <a:t>✅ Mauvais MDP → message d'erreur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</a:rPr>
              <a:t>✅ /dashboard sans token → redirige /login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</a:rPr>
              <a:t>✅ Connexion valide → accès dashboard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59" y="4572000"/>
            <a:ext cx="5577840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608576"/>
            <a:ext cx="53035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test_files.py — 4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8920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</a:rPr>
              <a:t>✅ Upload → lien de partage généré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</a:rPr>
              <a:t>✅ Lien public → page téléchargement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</a:rPr>
              <a:t>✅ Fichier visible dans l'historique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</a:rPr>
              <a:t>✅ Suppression + confirmation modale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</a:rPr>
              <a:t/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© DataShare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FFB88C"/>
              </a:gs>
              <a:gs pos="100000">
                <a:srgbClr val="DE626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11430000" cy="6537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</a:rPr>
              <a:t>Compromis MVP vs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645920" cy="50292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</a:rPr>
              <a:t>Décisions conscientes — chemin de migration documenté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106424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207008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Sujet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2070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Choix MVP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207008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Pourquoi acceptable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120700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En production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572768"/>
            <a:ext cx="11027664" cy="7132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7373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Stockage JWT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1700784"/>
            <a:ext cx="2606040" cy="384048"/>
          </a:xfrm>
          <a:prstGeom prst="rect">
            <a:avLst/>
          </a:prstGeom>
          <a:solidFill>
            <a:srgbClr val="FFF9C4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95728" y="175564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localStorage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17373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</a:rPr>
              <a:t>MVP : pas de XSS attendu sur prototype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0" y="1700784"/>
            <a:ext cx="3063240" cy="384048"/>
          </a:xfrm>
          <a:prstGeom prst="rect">
            <a:avLst/>
          </a:prstGeom>
          <a:solidFill>
            <a:srgbClr val="D4EDDA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22208" y="175564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5A24"/>
                </a:solidFill>
              </a:rPr>
              <a:t>Cookies httpOnly; Secure; SameSite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322576"/>
            <a:ext cx="11027664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48716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Schéma BDD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2450592"/>
            <a:ext cx="2606040" cy="384048"/>
          </a:xfrm>
          <a:prstGeom prst="rect">
            <a:avLst/>
          </a:prstGeom>
          <a:solidFill>
            <a:srgbClr val="FFF9C4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95728" y="2505456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synchronize: true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47488" y="2487168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</a:rPr>
              <a:t>Crée les tables auto au démarrage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2450592"/>
            <a:ext cx="3063240" cy="384048"/>
          </a:xfrm>
          <a:prstGeom prst="rect">
            <a:avLst/>
          </a:prstGeom>
          <a:solidFill>
            <a:srgbClr val="D4EDDA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22208" y="2505456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5A24"/>
                </a:solidFill>
              </a:rPr>
              <a:t>synchronize: false + migrations TypeORM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072384"/>
            <a:ext cx="11027664" cy="7132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23697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Rate limiting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0" y="3200400"/>
            <a:ext cx="2606040" cy="384048"/>
          </a:xfrm>
          <a:prstGeom prst="rect">
            <a:avLst/>
          </a:prstGeom>
          <a:solidFill>
            <a:srgbClr val="FFF9C4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95728" y="325526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Aucun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7488" y="3236976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</a:rPr>
              <a:t>Trafic faible en démo investisseurs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3200400"/>
            <a:ext cx="3063240" cy="384048"/>
          </a:xfrm>
          <a:prstGeom prst="rect">
            <a:avLst/>
          </a:prstGeom>
          <a:solidFill>
            <a:srgbClr val="D4EDDA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22208" y="3255264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5A24"/>
                </a:solidFill>
              </a:rPr>
              <a:t>Middleware express-rate-limit sur /auth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822191"/>
            <a:ext cx="11027664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3986783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Stockage fichiers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0" y="3950207"/>
            <a:ext cx="2606040" cy="384048"/>
          </a:xfrm>
          <a:prstGeom prst="rect">
            <a:avLst/>
          </a:prstGeom>
          <a:solidFill>
            <a:srgbClr val="FFF9C4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395728" y="4005072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Disque local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3986783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</a:rPr>
              <a:t>Suffisant pour 1 Go, facile à déboguer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3950207"/>
            <a:ext cx="3063240" cy="384048"/>
          </a:xfrm>
          <a:prstGeom prst="rect">
            <a:avLst/>
          </a:prstGeom>
          <a:solidFill>
            <a:srgbClr val="D4EDDA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22208" y="4005072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5A24"/>
                </a:solidFill>
              </a:rPr>
              <a:t>AWS S3 + URLs signées temporaires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4572000"/>
            <a:ext cx="11027664" cy="7132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73659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HTTPS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286000" y="4700016"/>
            <a:ext cx="2606040" cy="384048"/>
          </a:xfrm>
          <a:prstGeom prst="rect">
            <a:avLst/>
          </a:prstGeom>
          <a:solidFill>
            <a:srgbClr val="FFF9C4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395728" y="475488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HTTP en localhost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47488" y="4736592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</a:rPr>
              <a:t>Pas de domaine sur prototype local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12480" y="4700016"/>
            <a:ext cx="3063240" cy="384048"/>
          </a:xfrm>
          <a:prstGeom prst="rect">
            <a:avLst/>
          </a:prstGeom>
          <a:solidFill>
            <a:srgbClr val="D4EDDA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22208" y="4754880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5A24"/>
                </a:solidFill>
              </a:rPr>
              <a:t>Nginx reverse proxy + Let's Encrypt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8" y="5321807"/>
            <a:ext cx="11027664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5486399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1A"/>
                </a:solidFill>
              </a:rPr>
              <a:t>Scan antivirus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286000" y="5449823"/>
            <a:ext cx="2606040" cy="384048"/>
          </a:xfrm>
          <a:prstGeom prst="rect">
            <a:avLst/>
          </a:prstGeom>
          <a:solidFill>
            <a:srgbClr val="FFF9C4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95728" y="5504688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Aucun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47488" y="5486399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57575"/>
                </a:solidFill>
              </a:rPr>
              <a:t>Extensions interdites (.exe, .bat…)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12480" y="5449823"/>
            <a:ext cx="3063240" cy="384048"/>
          </a:xfrm>
          <a:prstGeom prst="rect">
            <a:avLst/>
          </a:prstGeom>
          <a:solidFill>
            <a:srgbClr val="D4EDDA"/>
          </a:solidFill>
          <a:ln w="101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22208" y="550468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55A24"/>
                </a:solidFill>
              </a:rPr>
              <a:t>ClamAV + scan à l'upload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6455664"/>
            <a:ext cx="11064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FF812D"/>
                </a:solidFill>
              </a:rPr>
              <a:t>Ces compromis sont documentés dans SECURITY.md et MAINTENANCE.md — migration planifiée, pas ignorée.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FFB88C"/>
              </a:gs>
              <a:gs pos="100000">
                <a:srgbClr val="DE626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11430000" cy="6537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</a:rPr>
              <a:t>Utilisation de l'IA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645920" cy="50292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</a:rPr>
              <a:t>Outil de support — pas de substitution au raisonnement architectural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70432"/>
            <a:ext cx="1106424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070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Le code métier a été écrit par le développeur. L'IA a été utilisée sur les tâches périphériques.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276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A34A"/>
                </a:solidFill>
              </a:rPr>
              <a:t>Délégué à l'IA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93392"/>
            <a:ext cx="5394960" cy="594360"/>
          </a:xfrm>
          <a:prstGeom prst="rect">
            <a:avLst/>
          </a:prstGeom>
          <a:solidFill>
            <a:srgbClr val="D4EDDA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0482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5A24"/>
                </a:solidFill>
              </a:rPr>
              <a:t>✅ Tests unitaires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0428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Squelettes de tests Jest pour controllers et stratégie JWT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51760"/>
            <a:ext cx="5394960" cy="594360"/>
          </a:xfrm>
          <a:prstGeom prst="rect">
            <a:avLst/>
          </a:prstGeom>
          <a:solidFill>
            <a:srgbClr val="D4EDDA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7066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5A24"/>
                </a:solidFill>
              </a:rPr>
              <a:t>✅ Commandes terminal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6265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Docker Compose, scripts TypeORM, génération PDF, commandes npm complexes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10128"/>
            <a:ext cx="5394960" cy="594360"/>
          </a:xfrm>
          <a:prstGeom prst="rect">
            <a:avLst/>
          </a:prstGeom>
          <a:solidFill>
            <a:srgbClr val="D4EDDA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3649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5A24"/>
                </a:solidFill>
              </a:rPr>
              <a:t>✅ Débogage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62102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Identification des erreurs TypeScript, incompatibilités modules NestJS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968496"/>
            <a:ext cx="5394960" cy="594360"/>
          </a:xfrm>
          <a:prstGeom prst="rect">
            <a:avLst/>
          </a:prstGeom>
          <a:solidFill>
            <a:srgbClr val="D4EDDA"/>
          </a:solidFill>
          <a:ln w="63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2335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55A24"/>
                </a:solidFill>
              </a:rPr>
              <a:t>✅ Documentation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27939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Rédaction TESTING.md, SECURITY.md, PERF.md, MAINTENANCE.md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62763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Pas délégué à l'IA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1993392"/>
            <a:ext cx="5394960" cy="594360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204825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</a:rPr>
              <a:t>❌ Logique métier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230428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AuthService, FilesService — écrits et compris par le développeur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2651760"/>
            <a:ext cx="5394960" cy="594360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270662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</a:rPr>
              <a:t>❌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962656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Choix NestJS/Vue/PostgreSQL, découpage en modules, entités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310128"/>
            <a:ext cx="5394960" cy="594360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33649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</a:rPr>
              <a:t>❌ Sécurité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621024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Décisions bcrypt coût 12, CORS, isolation ownerId, UUID v4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3968496"/>
            <a:ext cx="5394960" cy="594360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80" y="402335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</a:rPr>
              <a:t>❌ Interface utilisateur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27939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Toutes les vues Vue.js, router, stores Pinia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663440"/>
            <a:ext cx="11064240" cy="5486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477316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</a:rPr>
              <a:t>Exemple concret de supervision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120640"/>
            <a:ext cx="11064240" cy="1143000"/>
          </a:xfrm>
          <a:prstGeom prst="rect">
            <a:avLst/>
          </a:prstGeom>
          <a:solidFill>
            <a:srgbClr val="FFF9C4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" y="5166360"/>
            <a:ext cx="10789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1A"/>
                </a:solidFill>
              </a:rPr>
              <a:t>L'IA a généré un test qui importait bcrypt directement → erreur native node-gyp (module C++) au runtime.
Le développeur a identifié la cause (chaîne d'imports transitifs) et décidé la stratégie :
jest.mock('bcrypt') + jest.mock('typeorm') au niveau module → problème résolu. Couverture : 45% → 78%.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© DataShare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FFB88C"/>
              </a:gs>
              <a:gs pos="100000">
                <a:srgbClr val="DE626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11430000" cy="6537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</a:rPr>
              <a:t>Documentation API — 9 Endpoints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645920" cy="50292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</a:rPr>
              <a:t>REST · JWT Bearer · Collection Postman fournie avec tests automatisés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70432"/>
            <a:ext cx="11064240" cy="34747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20700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Méthode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207008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Endpoint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207008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Auth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2070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Corps / Params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6840" y="120700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Réponses clés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1572768"/>
            <a:ext cx="110642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0352" y="1645920"/>
            <a:ext cx="804672" cy="32918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682495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1682495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/auth/register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1682495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57575"/>
                </a:solidFill>
              </a:rPr>
              <a:t>Non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682495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email, username, password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1682495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201 profil · 409 email dupliqué · 400 validation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098548"/>
            <a:ext cx="11064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0352" y="2171700"/>
            <a:ext cx="804672" cy="32918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208276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220827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/auth/login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74920" y="220827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57575"/>
                </a:solidFill>
              </a:rPr>
              <a:t>Non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208276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email, password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208276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200 {access_token, user} · 401 identifiants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624328"/>
            <a:ext cx="110642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0352" y="2697480"/>
            <a:ext cx="804672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734056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17320" y="273405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/auth/me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273405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</a:rPr>
              <a:t>JWT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2734056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2734056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200 profil · 401 sans token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150108"/>
            <a:ext cx="11064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30352" y="3223260"/>
            <a:ext cx="804672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259836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325983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/files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325983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</a:rPr>
              <a:t>JWT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3259836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3259836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200 [] fichiers · 401 sans token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675887"/>
            <a:ext cx="110642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0352" y="3749039"/>
            <a:ext cx="804672" cy="32918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3785615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3785615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/files/upload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74920" y="3785615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</a:rPr>
              <a:t>JWT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785615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file (multipart), expiry_hours, password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40" y="3785615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201 share_url · 403 extension interdite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201668"/>
            <a:ext cx="11064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30352" y="4274820"/>
            <a:ext cx="804672" cy="32918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4311396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17320" y="431139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/files/upload/anonymous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74920" y="431139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57575"/>
                </a:solidFill>
              </a:rPr>
              <a:t>Non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63640" y="4311396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file (multipart), expiry_hours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06840" y="4311396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201 share_url · 403 extension interdite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920" y="4727448"/>
            <a:ext cx="110642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30352" y="4800600"/>
            <a:ext cx="804672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4837176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17320" y="483717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/files/share/:token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74920" y="483717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57575"/>
                </a:solidFill>
              </a:rPr>
              <a:t>Non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63640" y="4837176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token (URL param)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06840" y="4837176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200 métadonnées · 404 token inconnu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2920" y="5253227"/>
            <a:ext cx="11064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30352" y="5326379"/>
            <a:ext cx="804672" cy="32918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" y="5362955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417320" y="5362955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/files/download/:token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74920" y="5362955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757575"/>
                </a:solidFill>
              </a:rPr>
              <a:t>Non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5362955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token (URL), password (query)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06840" y="5362955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200 fichier binaire · 410 expiré · 403 mdp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5779007"/>
            <a:ext cx="11064240" cy="502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30352" y="5852159"/>
            <a:ext cx="804672" cy="32918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5888736"/>
            <a:ext cx="76809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417320" y="5888736"/>
            <a:ext cx="3566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A1A1A"/>
                </a:solidFill>
              </a:rPr>
              <a:t>/files/:id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74920" y="588873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</a:rPr>
              <a:t>JWT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63640" y="5888736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id (URL param)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06840" y="5888736"/>
            <a:ext cx="26517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1A1A1A"/>
                </a:solidFill>
              </a:rPr>
              <a:t>200 supprimé · 404 pas propriétaire · 401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48640" y="6400800"/>
            <a:ext cx="11064240" cy="54864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48640" y="6455664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1">
                <a:solidFill>
                  <a:srgbClr val="FF812D"/>
                </a:solidFill>
              </a:rPr>
              <a:t>Collection Postman complète avec tests automatisés : docs/datashare.postman_collection.json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FFB88C"/>
              </a:gs>
              <a:gs pos="100000">
                <a:srgbClr val="DE626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11430000" cy="6537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</a:rPr>
              <a:t>Questions techniques — Soyez prêt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645920" cy="50292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</a:rPr>
              <a:t>Concepts que tout développeur senior doit maîtriser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61872"/>
            <a:ext cx="5577840" cy="1508760"/>
          </a:xfrm>
          <a:prstGeom prst="rect">
            <a:avLst/>
          </a:prstGeom>
          <a:solidFill>
            <a:srgbClr val="F5F5F5"/>
          </a:solidFill>
          <a:ln w="10160">
            <a:solidFill>
              <a:srgbClr val="FF8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61872"/>
            <a:ext cx="5577840" cy="320040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307592"/>
            <a:ext cx="5349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Pourquoi bcrypt coût 12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645919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Coût = nombre d'itérations = 2^12 = 4096. Chaque +1 double le temps. Coût 12 ≈ 250ms/hash — trop lent pour brute-force (400k tentatives/jour max), imperceptible à l'humain.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1261872"/>
            <a:ext cx="5577840" cy="1508760"/>
          </a:xfrm>
          <a:prstGeom prst="rect">
            <a:avLst/>
          </a:prstGeom>
          <a:solidFill>
            <a:srgbClr val="F5F5F5"/>
          </a:solidFill>
          <a:ln w="10160">
            <a:solidFill>
              <a:srgbClr val="FF8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261872"/>
            <a:ext cx="5577840" cy="320040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307592"/>
            <a:ext cx="5349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C'est quoi un UUID v4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645919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Identifiant universel unique de 128 bits généré aléatoirement. Probabilité de collision : 1 sur 5,3×10^36. Impossible à deviner ou itérer. Utilisé comme share_token pour les liens de partage.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07791"/>
            <a:ext cx="5577840" cy="1508760"/>
          </a:xfrm>
          <a:prstGeom prst="rect">
            <a:avLst/>
          </a:prstGeom>
          <a:solidFill>
            <a:srgbClr val="F5F5F5"/>
          </a:solidFill>
          <a:ln w="10160">
            <a:solidFill>
              <a:srgbClr val="FF8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907791"/>
            <a:ext cx="5577840" cy="320040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2953511"/>
            <a:ext cx="5349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Pourquoi JWT stateless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291839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Le serveur ne stocke aucune session. Chaque requête porte le token signé. Avantage : scalabilité horizontale (plusieurs serveurs). Inconvénient : révocation impossible avant expiration → durée 7j acceptable pour MVP.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2907791"/>
            <a:ext cx="5577840" cy="1508760"/>
          </a:xfrm>
          <a:prstGeom prst="rect">
            <a:avLst/>
          </a:prstGeom>
          <a:solidFill>
            <a:srgbClr val="F5F5F5"/>
          </a:solidFill>
          <a:ln w="10160">
            <a:solidFill>
              <a:srgbClr val="FF8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2907791"/>
            <a:ext cx="5577840" cy="320040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2953511"/>
            <a:ext cx="5349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C'est quoi un mock dans les tests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291839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Un faux objet qui simule le comportement d'une vraie dépendance. Ex : jest.fn() remplace le Repository TypeORM → pas besoin de BDD réelle. Avantage : tests rapides, reproductibles, isolés.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553712"/>
            <a:ext cx="5577840" cy="1508760"/>
          </a:xfrm>
          <a:prstGeom prst="rect">
            <a:avLst/>
          </a:prstGeom>
          <a:solidFill>
            <a:srgbClr val="F5F5F5"/>
          </a:solidFill>
          <a:ln w="10160">
            <a:solidFill>
              <a:srgbClr val="FF8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553712"/>
            <a:ext cx="5577840" cy="320040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599432"/>
            <a:ext cx="5349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Différence test unitaire / intégration / E2E 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4937760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Unitaire : une fonction, tout mocké. Intégration : plusieurs composants, BDD réelle. E2E : application complète, navigateur réel, parcours utilisateur de bout en bout.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59" y="4553712"/>
            <a:ext cx="5577840" cy="1508760"/>
          </a:xfrm>
          <a:prstGeom prst="rect">
            <a:avLst/>
          </a:prstGeom>
          <a:solidFill>
            <a:srgbClr val="F5F5F5"/>
          </a:solidFill>
          <a:ln w="10160">
            <a:solidFill>
              <a:srgbClr val="FF81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59" y="4553712"/>
            <a:ext cx="5577840" cy="320040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4599432"/>
            <a:ext cx="5349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Pourquoi PostgreSQL plutôt que MongoDB 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937760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Données structurées avec relations (User → SharedFile). PostgreSQL = ACID, UUID natif, index FK performants. MongoDB utile pour données non structurées ou schéma variable — pas notre cas.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© DataShare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FFB88C"/>
              </a:gs>
              <a:gs pos="100000">
                <a:srgbClr val="DE626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11430000" cy="6537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</a:rPr>
              <a:t>Vos réponses — Chef de projet SI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645920" cy="50292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</a:rPr>
              <a:t>Livrables, traçabilité, onboarding, incidents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61872"/>
            <a:ext cx="5577840" cy="1508760"/>
          </a:xfrm>
          <a:prstGeom prst="rect">
            <a:avLst/>
          </a:prstGeom>
          <a:solidFill>
            <a:srgbClr val="F5F5F5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61872"/>
            <a:ext cx="557784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307592"/>
            <a:ext cx="5349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Comment un nouveau développeur prend-il le projet en main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645919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README détaillé : prérequis, docker compose up -d, accès http://localhost:5173. Entité, routes, variables d'env, procédures maintenance — tout documenté. Temps estimé d'onboarding : &lt; 30 minutes.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1261872"/>
            <a:ext cx="5577840" cy="1508760"/>
          </a:xfrm>
          <a:prstGeom prst="rect">
            <a:avLst/>
          </a:prstGeom>
          <a:solidFill>
            <a:srgbClr val="F5F5F5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261872"/>
            <a:ext cx="557784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307592"/>
            <a:ext cx="5349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Où est la documentation API ? Comment tester sans interface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645919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Collection Postman complète (docs/datashare.postman_collection.json) avec 10 requêtes et tests automatisés Postman. Importable en 1 clic, variable {{token}} auto-injectée.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07791"/>
            <a:ext cx="5577840" cy="1508760"/>
          </a:xfrm>
          <a:prstGeom prst="rect">
            <a:avLst/>
          </a:prstGeom>
          <a:solidFill>
            <a:srgbClr val="F5F5F5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907791"/>
            <a:ext cx="557784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2953511"/>
            <a:ext cx="5349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Comment je sais que l'application fonctionne en production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291839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docker compose ps → état des 3 services. docker compose logs -f backend → logs NestJS temps réel. MAINTENANCE.md : procédures surveillance, sauvegardes, métriques.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2907791"/>
            <a:ext cx="5577840" cy="1508760"/>
          </a:xfrm>
          <a:prstGeom prst="rect">
            <a:avLst/>
          </a:prstGeom>
          <a:solidFill>
            <a:srgbClr val="F5F5F5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2907791"/>
            <a:ext cx="557784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2953511"/>
            <a:ext cx="5349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Quelle est la stratégie de backup des données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291839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Base : pg_dump via docker compose exec → fichier SQL horodaté. Fichiers uploadés : volume Docker uploads_data → tar.gz. Procédure complète dans MAINTENANCE.md avec commandes prêtes à l'emploi.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553712"/>
            <a:ext cx="5577840" cy="1508760"/>
          </a:xfrm>
          <a:prstGeom prst="rect">
            <a:avLst/>
          </a:prstGeom>
          <a:solidFill>
            <a:srgbClr val="F5F5F5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553712"/>
            <a:ext cx="557784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599432"/>
            <a:ext cx="5349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Comment gérer une mise à jour de dépendance critique 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4937760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npm audit hebdomadaire (Dependabot recommandé). Patch : immédiat. Minor : mensuel. Major : trimestriel après tests sur branche dédiée. npm test après chaque mise à jour — 32 tests de régression.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59" y="4553712"/>
            <a:ext cx="5577840" cy="1508760"/>
          </a:xfrm>
          <a:prstGeom prst="rect">
            <a:avLst/>
          </a:prstGeom>
          <a:solidFill>
            <a:srgbClr val="F5F5F5"/>
          </a:solidFill>
          <a:ln w="101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59" y="4553712"/>
            <a:ext cx="5577840" cy="3200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4599432"/>
            <a:ext cx="5349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Quel est le délai de prise en charge d'un incident 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937760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MAINTENANCE.md définit les procédures. Logs accessibles immédiatement. Architecture Docker : redémarrage service en &lt; 30s. Purge automatique des fichiers expirés toutes les 24h — opération transparente.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© DataShare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FFB88C"/>
              </a:gs>
              <a:gs pos="100000">
                <a:srgbClr val="DE626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11430000" cy="6537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</a:rPr>
              <a:t>Vos réponses — Architecte logiciel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645920" cy="50292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</a:rPr>
              <a:t>Choix d'architecture, scalabilité, sécurité, dette technique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61872"/>
            <a:ext cx="5577840" cy="1508760"/>
          </a:xfrm>
          <a:prstGeom prst="rect">
            <a:avLst/>
          </a:prstGeom>
          <a:solidFill>
            <a:srgbClr val="F5F5F5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261872"/>
            <a:ext cx="55778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307592"/>
            <a:ext cx="5349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synchronize: true en prod c'est une bombe à retardement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645919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Oui, assumé. En dev : synchronize:true crée les tables automatiquement. En prod : synchronize:false + migrations TypeORM explicites. MAINTENANCE.md documente la procédure. Commandé dans la checklist prod.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1261872"/>
            <a:ext cx="5577840" cy="1508760"/>
          </a:xfrm>
          <a:prstGeom prst="rect">
            <a:avLst/>
          </a:prstGeom>
          <a:solidFill>
            <a:srgbClr val="F5F5F5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261872"/>
            <a:ext cx="55778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1307592"/>
            <a:ext cx="5349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Pas de pagination sur GET /files → problème à 10 000 fichiers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9088" y="1645919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Oui, limite identifiée. Pour le MVP, un utilisateur a en général &lt; 50 fichiers actifs (expiration 7j). La pagination est documentée dans la roadmap court terme. Index sur owner_id en place pour la requête — latence actuelle : 7ms.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07791"/>
            <a:ext cx="5577840" cy="1508760"/>
          </a:xfrm>
          <a:prstGeom prst="rect">
            <a:avLst/>
          </a:prstGeom>
          <a:solidFill>
            <a:srgbClr val="F5F5F5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907791"/>
            <a:ext cx="55778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2953511"/>
            <a:ext cx="5349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JWT 7 jours sans refresh token — si volé, 7 jours d'accès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" y="3291839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Risque accepté pour le MVP. Mitigations en place : bcrypt + validation stricte. En production : refresh token court (15min) + rotation JWT documentée dans SECURITY.md. localStorage → cookies httpOnly en prod pour limiter le vecteur XSS.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2907791"/>
            <a:ext cx="5577840" cy="1508760"/>
          </a:xfrm>
          <a:prstGeom prst="rect">
            <a:avLst/>
          </a:prstGeom>
          <a:solidFill>
            <a:srgbClr val="F5F5F5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2907791"/>
            <a:ext cx="55778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19088" y="2953511"/>
            <a:ext cx="5349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Disque local — single point of failure 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3291839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Oui, assumé pour un prototype local. Volume Docker uploads_data est persistant. Migration vers AWS S3 documentée dans PERF.md — UPLOAD_DIR isole cette dépendance. Changement = 1 variable d'env + 1 module NestJS, sans réécriture.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553712"/>
            <a:ext cx="5577840" cy="1508760"/>
          </a:xfrm>
          <a:prstGeom prst="rect">
            <a:avLst/>
          </a:prstGeom>
          <a:solidFill>
            <a:srgbClr val="F5F5F5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4553712"/>
            <a:ext cx="55778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599432"/>
            <a:ext cx="5349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Pourquoi NestJS et pas Spring Boot ou .NET Core 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4937760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TypeScript full-stack = cohérence frontend/backend, un seul langage à maîtriser. NestJS = modules, DI, Guards, Decorators — architecture similaire à Spring. Écosystème npm : bcrypt, passport-jwt, typeorm — maturité prouvée en production.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59" y="4553712"/>
            <a:ext cx="5577840" cy="1508760"/>
          </a:xfrm>
          <a:prstGeom prst="rect">
            <a:avLst/>
          </a:prstGeom>
          <a:solidFill>
            <a:srgbClr val="F5F5F5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59" y="4553712"/>
            <a:ext cx="5577840" cy="3200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4599432"/>
            <a:ext cx="5349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CORS en dur sur localhost — comment passer en prod 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9088" y="4937760"/>
            <a:ext cx="5349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</a:rPr>
              <a:t>FRONTEND_URL est une variable d'environnement, pas hardcodée. En prod : FRONTEND_URL=https://datashare.mondomaine.com dans .env. Aucune modification de code requise — 12-factor app compliant.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757575"/>
                </a:solidFill>
              </a:rPr>
              <a:t>© DataShare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FFB88C"/>
              </a:gs>
              <a:gs pos="100000">
                <a:srgbClr val="DE626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1A1A1A"/>
                </a:solidFill>
              </a:rPr>
              <a:t>Démonstration en direct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2468880"/>
            <a:ext cx="576072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633472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1A1A1A"/>
                </a:solidFill>
              </a:rPr>
              <a:t>3 flows à parcourir ensemble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291840"/>
            <a:ext cx="2651760" cy="1645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337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12D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822191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Inscription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206240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B88C"/>
                </a:solidFill>
              </a:rPr>
              <a:t>Créer un compte → 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3291840"/>
            <a:ext cx="2651760" cy="1645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337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12D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822191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4206240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B88C"/>
                </a:solidFill>
              </a:rPr>
              <a:t>Déposer un fichier → obtenir le lien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0" y="3291840"/>
            <a:ext cx="2651760" cy="1645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337560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812D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822191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Partage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06240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B88C"/>
                </a:solidFill>
              </a:rPr>
              <a:t>Ouvrir le lien → télécharger le fichier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1A1A1A"/>
                </a:solidFill>
              </a:rPr>
              <a:t>http://localhost:5173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© DataShare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FFB88C"/>
              </a:gs>
              <a:gs pos="100000">
                <a:srgbClr val="DE626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37160"/>
            <a:ext cx="11430000" cy="65379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1A"/>
                </a:solidFill>
              </a:rPr>
              <a:t>Roadmap &amp; Vision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896112"/>
            <a:ext cx="1645920" cy="50292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8755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57575"/>
                </a:solidFill>
              </a:rPr>
              <a:t>Evolutions post-MVP — de l'auto-hébergement au SaaS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394960" cy="384048"/>
          </a:xfrm>
          <a:prstGeom prst="rect">
            <a:avLst/>
          </a:prstGeom>
          <a:solidFill>
            <a:srgbClr val="FF8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3350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Court terme (1-3 mois)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Rate limiting sur /auth — protection brute-force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HTTPS + HSTS en production (Nginx + Let's Encrypt)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Cookies httpOnly à la place de localStorage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Notifications email à l'expiration des fichiers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Interface admin pour gérer les utilisateurs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394960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33502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Moyen terme (3-6 mois)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719072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Stockage AWS S3 — scalabilité et fiabilité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Chiffrement AES-256 des fichiers au repos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Scan antivirus des uploads (ClamAV)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API publique documentée (OpenAPI 3.0)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Dashboard analytics pour les administrateurs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977639"/>
            <a:ext cx="11064240" cy="3840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03250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Vision long terme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16552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Mode SaaS : facturation par usage, plans freemium / pro / entreprise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Application mobile React Native — partage depuis smartphone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Intégrations : Slack, Teams, Notion, Zapier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A1A1A"/>
                </a:solidFill>
              </a:rPr>
              <a:t>Conformité SOC 2 / ISO 27001 pour les clients entreprise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1">
                <a:solidFill>
                  <a:srgbClr val="FF812D"/>
                </a:solidFill>
              </a:rPr>
              <a:t>Architecture NestJS modulaire : chaque évolution s'ajoute comme un nouveau module sans réécriture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FFB88C"/>
              </a:gs>
              <a:gs pos="100000">
                <a:srgbClr val="DE6262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8229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1A1A1A"/>
                </a:solidFill>
              </a:rPr>
              <a:t>DataShare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194560"/>
            <a:ext cx="5212080" cy="64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</a:rPr>
              <a:t>MVP fonctionnel livré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200400"/>
            <a:ext cx="4937760" cy="114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291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MVP fonctionnel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7033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B88C"/>
                </a:solidFill>
              </a:rPr>
              <a:t>9 User Stories · démo prête · Docker Compose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3200400"/>
            <a:ext cx="4937760" cy="114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63640" y="32918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Architecture extensible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37033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B88C"/>
                </a:solidFill>
              </a:rPr>
              <a:t>NestJS modulaire · prêt pour S3, microservices, SaaS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526280"/>
            <a:ext cx="4937760" cy="114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6177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Code documenté &amp; testé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0292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B88C"/>
                </a:solidFill>
              </a:rPr>
              <a:t>32 tests Jest · 78% couverture · 11 E2E Playwright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526280"/>
            <a:ext cx="4937760" cy="1143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46177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✅ Prêt investisseurs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50292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B88C"/>
                </a:solidFill>
              </a:rPr>
              <a:t>Demo live · roadmap claire · compromis documentés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</a:rPr>
              <a:t>© DataShare 2026 — Prototype MVP — Prêt pour investisseurs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